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5F7E5B-9353-D464-17E0-877E1C4850A6}" v="5" dt="2026-08-22T06:21:31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ank Deep Khare" userId="S::mayank@niet.co.in::ffd7da2d-b609-4f7c-9278-1ada1d7219f6" providerId="AD" clId="Web-{D55F7E5B-9353-D464-17E0-877E1C4850A6}"/>
    <pc:docChg chg="modSld">
      <pc:chgData name="Mayank Deep Khare" userId="S::mayank@niet.co.in::ffd7da2d-b609-4f7c-9278-1ada1d7219f6" providerId="AD" clId="Web-{D55F7E5B-9353-D464-17E0-877E1C4850A6}" dt="2026-08-22T06:21:30.527" v="1" actId="20577"/>
      <pc:docMkLst>
        <pc:docMk/>
      </pc:docMkLst>
      <pc:sldChg chg="modSp">
        <pc:chgData name="Mayank Deep Khare" userId="S::mayank@niet.co.in::ffd7da2d-b609-4f7c-9278-1ada1d7219f6" providerId="AD" clId="Web-{D55F7E5B-9353-D464-17E0-877E1C4850A6}" dt="2026-08-22T06:21:30.527" v="1" actId="20577"/>
        <pc:sldMkLst>
          <pc:docMk/>
          <pc:sldMk cId="0" sldId="291"/>
        </pc:sldMkLst>
        <pc:spChg chg="mod">
          <ac:chgData name="Mayank Deep Khare" userId="S::mayank@niet.co.in::ffd7da2d-b609-4f7c-9278-1ada1d7219f6" providerId="AD" clId="Web-{D55F7E5B-9353-D464-17E0-877E1C4850A6}" dt="2026-08-22T06:21:30.527" v="1" actId="20577"/>
          <ac:spMkLst>
            <pc:docMk/>
            <pc:sldMk cId="0" sldId="291"/>
            <ac:spMk id="10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400" b="1"/>
            </a:pPr>
            <a:r>
              <a:t>PROBLEM STATEMENT: SIH26061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  <a:defRPr sz="1800" b="1"/>
            </a:pPr>
            <a:r>
              <a:t>Problem Statement ID – SIH26061</a:t>
            </a:r>
            <a:endParaRPr lang="en-US" dirty="0"/>
          </a:p>
          <a:p>
            <a:pPr>
              <a:spcAft>
                <a:spcPts val="600"/>
              </a:spcAft>
              <a:defRPr sz="1800"/>
            </a:pPr>
            <a:r>
              <a:t>Problem Statement Title – AI-Driven Smart Energy</a:t>
            </a:r>
          </a:p>
          <a:p>
            <a:pPr>
              <a:spcAft>
                <a:spcPts val="600"/>
              </a:spcAft>
              <a:defRPr sz="1800"/>
            </a:pPr>
            <a:r>
              <a:t>    Management System for Polar Research Stations</a:t>
            </a:r>
          </a:p>
          <a:p>
            <a:pPr>
              <a:spcAft>
                <a:spcPts val="600"/>
              </a:spcAft>
              <a:defRPr sz="1800"/>
            </a:pPr>
            <a:r>
              <a:t>Theme – Clean &amp; Green Technology</a:t>
            </a:r>
          </a:p>
          <a:p>
            <a:pPr>
              <a:spcAft>
                <a:spcPts val="600"/>
              </a:spcAft>
              <a:defRPr sz="1800"/>
            </a:pPr>
            <a:r>
              <a:t>PS Category – Software</a:t>
            </a:r>
          </a:p>
          <a:p>
            <a:pPr>
              <a:spcAft>
                <a:spcPts val="600"/>
              </a:spcAft>
              <a:defRPr sz="1800"/>
            </a:pPr>
            <a:r>
              <a:t>Team ID – (Leave blank)</a:t>
            </a:r>
          </a:p>
          <a:p>
            <a:pPr>
              <a:spcAft>
                <a:spcPts val="600"/>
              </a:spcAft>
              <a:defRPr sz="1800" b="1"/>
            </a:pPr>
            <a:r>
              <a:t>Team Name – CryoGrid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t>POLARGRID AI — INTELLIGENT ENERGY MANAGEMENT FOR POLAR STATIONS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200"/>
              </a:spcAft>
              <a:buFont typeface="Wingdings" panose="05000000000000000000" pitchFamily="2" charset="2"/>
              <a:buChar char="v"/>
              <a:defRPr sz="1600" b="1"/>
            </a:pPr>
            <a: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200"/>
              </a:spcAft>
              <a:defRPr sz="800" b="0"/>
            </a:pPr>
          </a:p>
          <a:p>
            <a:pPr>
              <a:spcAft>
                <a:spcPts val="200"/>
              </a:spcAft>
              <a:defRPr sz="1400" b="0"/>
            </a:pPr>
            <a:r>
              <a:t>PolarGrid AI: AI-powered energy management system for India's 3 polar stations (Maitri, Bharati, Himadri)</a:t>
            </a:r>
          </a:p>
          <a:p>
            <a:pPr>
              <a:spcAft>
                <a:spcPts val="200"/>
              </a:spcAft>
              <a:defRPr sz="1400" b="0"/>
            </a:pPr>
            <a:r>
              <a:t>Optimizes multi-source energy mix: Solar PV + Wind Turbines + Battery Storage + Diesel Generators</a:t>
            </a:r>
          </a:p>
          <a:p>
            <a:pPr>
              <a:spcAft>
                <a:spcPts val="200"/>
              </a:spcAft>
              <a:defRPr sz="1400" b="0"/>
            </a:pPr>
            <a:r>
              <a:t>Reduces diesel consumption by 35% while ensuring 100% uptime for critical loads</a:t>
            </a:r>
          </a:p>
          <a:p>
            <a:pPr>
              <a:spcAft>
                <a:spcPts val="200"/>
              </a:spcAft>
              <a:defRPr sz="800" b="0"/>
            </a:pPr>
          </a:p>
          <a:p>
            <a:pPr>
              <a:spcAft>
                <a:spcPts val="200"/>
              </a:spcAft>
              <a:defRPr sz="1600" b="1"/>
            </a:pPr>
            <a:r>
              <a:t>How It Addresses the Problem</a:t>
            </a:r>
          </a:p>
          <a:p>
            <a:pPr>
              <a:spcAft>
                <a:spcPts val="200"/>
              </a:spcAft>
              <a:defRPr sz="800" b="0"/>
            </a:pPr>
          </a:p>
          <a:p>
            <a:pPr>
              <a:spcAft>
                <a:spcPts val="200"/>
              </a:spcAft>
              <a:defRPr sz="1400" b="0"/>
            </a:pPr>
            <a:r>
              <a:t>AI Load Forecaster (XGBoost + RF + GB ensemble): R² = 0.956, MAE ≈ 9 kW</a:t>
            </a:r>
          </a:p>
          <a:p>
            <a:pPr>
              <a:spcAft>
                <a:spcPts val="200"/>
              </a:spcAft>
              <a:defRPr sz="1400" b="0"/>
            </a:pPr>
            <a:r>
              <a:t>5 Operating Modes: NORMAL | POLAR_NIGHT | BLIZZARD | SUMMER_SURGE | EMERGENCY</a:t>
            </a:r>
          </a:p>
          <a:p>
            <a:pPr>
              <a:spcAft>
                <a:spcPts val="200"/>
              </a:spcAft>
              <a:defRPr sz="1400" b="0"/>
            </a:pPr>
            <a:r>
              <a:t>Handles polar night (4 months zero solar), katabatic winds (&gt;25 m/s), -40°C battery degradation</a:t>
            </a:r>
          </a:p>
          <a:p>
            <a:pPr>
              <a:spcAft>
                <a:spcPts val="200"/>
              </a:spcAft>
              <a:defRPr sz="800" b="0"/>
            </a:pPr>
          </a:p>
          <a:p>
            <a:pPr>
              <a:spcAft>
                <a:spcPts val="200"/>
              </a:spcAft>
              <a:defRPr sz="1600" b="1"/>
            </a:pPr>
            <a:r>
              <a:t>Innovation &amp; Uniqueness</a:t>
            </a:r>
          </a:p>
          <a:p>
            <a:pPr>
              <a:spcAft>
                <a:spcPts val="200"/>
              </a:spcAft>
              <a:defRPr sz="800" b="0"/>
            </a:pPr>
          </a:p>
          <a:p>
            <a:pPr>
              <a:spcAft>
                <a:spcPts val="200"/>
              </a:spcAft>
              <a:defRPr sz="1400" b="0"/>
            </a:pPr>
            <a:r>
              <a:t>Polar-specific (not generic smart grid): models katabatic winds, cold-weather batteries, crew schedules</a:t>
            </a:r>
          </a:p>
          <a:p>
            <a:pPr>
              <a:spcAft>
                <a:spcPts val="200"/>
              </a:spcAft>
              <a:defRPr sz="1400" b="0"/>
            </a:pPr>
            <a:r>
              <a:t>Uncertainty quantification via model disagreement → risk-aware dispatch decisions</a:t>
            </a:r>
          </a:p>
          <a:p>
            <a:pPr>
              <a:spcAft>
                <a:spcPts val="200"/>
              </a:spcAft>
              <a:defRPr sz="1400" b="0"/>
            </a:pPr>
            <a:r>
              <a:t>Fuel resupply planner aligned with summer shipping windows (only access to Antarctica)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CryoGrid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00"/>
              </a:spcAft>
              <a:buFont typeface="Arial" panose="020B0604020202020204" pitchFamily="34" charset="0"/>
              <a:buChar char="•"/>
              <a:defRPr sz="1600" b="1"/>
            </a:pPr>
            <a:r>
              <a:t>Technologies Used</a:t>
            </a:r>
          </a:p>
          <a:p>
            <a:pPr>
              <a:spcAft>
                <a:spcPts val="100"/>
              </a:spcAft>
              <a:defRPr sz="1300" b="0"/>
            </a:pPr>
            <a:r>
              <a:t>• Python 3.12 | FastAPI (Backend) | Chart.js (Frontend)</a:t>
            </a:r>
          </a:p>
          <a:p>
            <a:pPr>
              <a:spcAft>
                <a:spcPts val="100"/>
              </a:spcAft>
              <a:defRPr sz="1300" b="0"/>
            </a:pPr>
            <a:r>
              <a:t>• ML: XGBoost, Random Forest, Gradient Boosting (scikit-learn)</a:t>
            </a:r>
          </a:p>
          <a:p>
            <a:pPr>
              <a:spcAft>
                <a:spcPts val="100"/>
              </a:spcAft>
              <a:defRPr sz="1300" b="0"/>
            </a:pPr>
            <a:r>
              <a:t>• Optimization: scipy (MILP-style dispatch) + Rule-based RL</a:t>
            </a:r>
          </a:p>
          <a:p>
            <a:pPr>
              <a:spcAft>
                <a:spcPts val="100"/>
              </a:spcAft>
              <a:defRPr sz="1300" b="0"/>
            </a:pPr>
            <a:r>
              <a:t>• Data: pandas, numpy | 8,760 hourly data points/station</a:t>
            </a:r>
          </a:p>
          <a:p>
            <a:pPr>
              <a:spcAft>
                <a:spcPts val="100"/>
              </a:spcAft>
              <a:defRPr sz="600" b="0"/>
            </a:pPr>
          </a:p>
          <a:p>
            <a:pPr>
              <a:spcAft>
                <a:spcPts val="100"/>
              </a:spcAft>
              <a:defRPr sz="1600" b="1"/>
            </a:pPr>
            <a:r>
              <a:t>System Architecture — 5 Modules</a:t>
            </a:r>
          </a:p>
          <a:p>
            <a:pPr>
              <a:spcAft>
                <a:spcPts val="100"/>
              </a:spcAft>
              <a:defRPr sz="1300" b="0"/>
            </a:pPr>
            <a:r>
              <a:t>1. Polar Data Simulator: Physically-accurate synthetic data</a:t>
            </a:r>
          </a:p>
          <a:p>
            <a:pPr>
              <a:spcAft>
                <a:spcPts val="100"/>
              </a:spcAft>
              <a:defRPr sz="1200" b="0"/>
            </a:pPr>
            <a:r>
              <a:t>   (temperature, wind, solar, loads for 365 days × 24 hrs)</a:t>
            </a:r>
          </a:p>
          <a:p>
            <a:pPr>
              <a:spcAft>
                <a:spcPts val="100"/>
              </a:spcAft>
              <a:defRPr sz="1300" b="0"/>
            </a:pPr>
            <a:r>
              <a:t>2. AI Load Forecaster: Hybrid ensemble predicts demand 7 days ahead</a:t>
            </a:r>
          </a:p>
          <a:p>
            <a:pPr>
              <a:spcAft>
                <a:spcPts val="100"/>
              </a:spcAft>
              <a:defRPr sz="1200" b="0"/>
            </a:pPr>
            <a:r>
              <a:t>   with 95% confidence intervals</a:t>
            </a:r>
          </a:p>
          <a:p>
            <a:pPr>
              <a:spcAft>
                <a:spcPts val="100"/>
              </a:spcAft>
              <a:defRPr sz="1300" b="0"/>
            </a:pPr>
            <a:r>
              <a:t>3. Renewable Forecaster: Separate models for solar &amp; wind</a:t>
            </a:r>
          </a:p>
          <a:p>
            <a:pPr>
              <a:spcAft>
                <a:spcPts val="100"/>
              </a:spcAft>
              <a:defRPr sz="1300" b="0"/>
            </a:pPr>
            <a:r>
              <a:t>4. Dispatch Optimizer: 5 operating modes with hard constraints</a:t>
            </a:r>
          </a:p>
          <a:p>
            <a:pPr>
              <a:spcAft>
                <a:spcPts val="100"/>
              </a:spcAft>
              <a:defRPr sz="1200" b="0"/>
            </a:pPr>
            <a:r>
              <a:t>   (Battery SoC 20-90%, Gen min-load 30%, Critical 150 kW)</a:t>
            </a:r>
          </a:p>
          <a:p>
            <a:pPr>
              <a:spcAft>
                <a:spcPts val="100"/>
              </a:spcAft>
              <a:defRPr sz="1300" b="0"/>
            </a:pPr>
            <a:r>
              <a:t>5. Interactive Dashboard: 6 tabs with real-time visualization</a:t>
            </a:r>
          </a:p>
          <a:p>
            <a:pPr>
              <a:spcAft>
                <a:spcPts val="100"/>
              </a:spcAft>
              <a:defRPr sz="600" b="0"/>
            </a:pPr>
          </a:p>
          <a:p>
            <a:pPr>
              <a:spcAft>
                <a:spcPts val="100"/>
              </a:spcAft>
              <a:defRPr sz="1600" b="1"/>
            </a:pPr>
            <a:r>
              <a:t>Methodology</a:t>
            </a:r>
          </a:p>
          <a:p>
            <a:pPr>
              <a:spcAft>
                <a:spcPts val="100"/>
              </a:spcAft>
              <a:defRPr sz="1300" b="0"/>
            </a:pPr>
            <a:r>
              <a:t>• Temporal train/test split (no data leakage) on 8,760 data points</a:t>
            </a:r>
          </a:p>
          <a:p>
            <a:pPr>
              <a:spcAft>
                <a:spcPts val="100"/>
              </a:spcAft>
              <a:defRPr sz="1300" b="0"/>
            </a:pPr>
            <a:r>
              <a:t>• 26 features: cyclical time, weather, lag features, polar indicators</a:t>
            </a:r>
          </a:p>
          <a:p>
            <a:pPr>
              <a:spcAft>
                <a:spcPts val="100"/>
              </a:spcAft>
              <a:defRPr sz="1300" b="0"/>
            </a:pPr>
            <a:r>
              <a:t>• Ensemble weights: XGB 45% + RF 25% + GB 30%</a:t>
            </a:r>
          </a:p>
          <a:p>
            <a:pPr>
              <a:spcAft>
                <a:spcPts val="100"/>
              </a:spcAft>
              <a:defRPr sz="1300" b="0"/>
            </a:pPr>
            <a:r>
              <a:t>• Uncertainty from model disagreement → safe dispatch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CryoGrid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1"/>
            </a:pPr>
            <a:r>
              <a:t>Feasibility Analysis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00"/>
              </a:spcAft>
              <a:defRPr sz="1300" b="0"/>
            </a:pPr>
            <a:r>
              <a:t>✓ All technologies are open-source, mature, and production-ready</a:t>
            </a:r>
          </a:p>
          <a:p>
            <a:pPr>
              <a:spcAft>
                <a:spcPts val="100"/>
              </a:spcAft>
              <a:defRPr sz="1300" b="0"/>
            </a:pPr>
            <a:r>
              <a:t>✓ No specialized hardware needed — runs on any server/laptop</a:t>
            </a:r>
          </a:p>
          <a:p>
            <a:pPr>
              <a:spcAft>
                <a:spcPts val="100"/>
              </a:spcAft>
              <a:defRPr sz="1300" b="0"/>
            </a:pPr>
            <a:r>
              <a:t>✓ Model accuracy R² = 0.956 proven on 1 year of synthetic data</a:t>
            </a:r>
          </a:p>
          <a:p>
            <a:pPr>
              <a:spcAft>
                <a:spcPts val="100"/>
              </a:spcAft>
              <a:defRPr sz="1300" b="0"/>
            </a:pPr>
            <a:r>
              <a:t>✓ Fully functional system built and tested (API + Dashboard)</a:t>
            </a:r>
          </a:p>
          <a:p>
            <a:pPr>
              <a:spcAft>
                <a:spcPts val="100"/>
              </a:spcAft>
              <a:defRPr sz="1300" b="0"/>
            </a:pPr>
            <a:r>
              <a:t>✓ Deployable at all 3 Indian polar stations with parameter tuning</a:t>
            </a:r>
          </a:p>
          <a:p>
            <a:pPr>
              <a:spcAft>
                <a:spcPts val="100"/>
              </a:spcAft>
              <a:defRPr sz="600" b="0"/>
            </a:pPr>
          </a:p>
          <a:p>
            <a:pPr>
              <a:spcAft>
                <a:spcPts val="100"/>
              </a:spcAft>
              <a:defRPr sz="1600" b="1"/>
            </a:pPr>
            <a:r>
              <a:t>Potential Challenges &amp; Risks</a:t>
            </a:r>
          </a:p>
          <a:p>
            <a:pPr>
              <a:spcAft>
                <a:spcPts val="100"/>
              </a:spcAft>
              <a:defRPr sz="1300" b="0"/>
            </a:pPr>
            <a:r>
              <a:t>• Real polar station data not publicly available</a:t>
            </a:r>
          </a:p>
          <a:p>
            <a:pPr>
              <a:spcAft>
                <a:spcPts val="100"/>
              </a:spcAft>
              <a:defRPr sz="1200" b="0"/>
            </a:pPr>
            <a:r>
              <a:t>   → Mitigation: Physics-based simulator calibrated to actual conditions</a:t>
            </a:r>
          </a:p>
          <a:p>
            <a:pPr>
              <a:spcAft>
                <a:spcPts val="100"/>
              </a:spcAft>
              <a:defRPr sz="1300" b="0"/>
            </a:pPr>
            <a:r>
              <a:t>• Extreme weather can damage sensors/equipment</a:t>
            </a:r>
          </a:p>
          <a:p>
            <a:pPr>
              <a:spcAft>
                <a:spcPts val="100"/>
              </a:spcAft>
              <a:defRPr sz="1200" b="0"/>
            </a:pPr>
            <a:r>
              <a:t>   → Mitigation: BLIZZARD mode protects turbines, fallback to generators</a:t>
            </a:r>
          </a:p>
          <a:p>
            <a:pPr>
              <a:spcAft>
                <a:spcPts val="100"/>
              </a:spcAft>
              <a:defRPr sz="1300" b="0"/>
            </a:pPr>
            <a:r>
              <a:t>• Battery degradation below -20°C</a:t>
            </a:r>
          </a:p>
          <a:p>
            <a:pPr>
              <a:spcAft>
                <a:spcPts val="100"/>
              </a:spcAft>
              <a:defRPr sz="1200" b="0"/>
            </a:pPr>
            <a:r>
              <a:t>   → Mitigation: Hard SoC limits (20-90%), thermal management alerts</a:t>
            </a:r>
          </a:p>
          <a:p>
            <a:pPr>
              <a:spcAft>
                <a:spcPts val="100"/>
              </a:spcAft>
              <a:defRPr sz="600" b="0"/>
            </a:pPr>
          </a:p>
          <a:p>
            <a:pPr>
              <a:spcAft>
                <a:spcPts val="100"/>
              </a:spcAft>
              <a:defRPr sz="1600" b="1"/>
            </a:pPr>
            <a:r>
              <a:t>Strategies for Overcoming</a:t>
            </a:r>
          </a:p>
          <a:p>
            <a:pPr>
              <a:spcAft>
                <a:spcPts val="100"/>
              </a:spcAft>
              <a:defRPr sz="1300" b="0"/>
            </a:pPr>
            <a:r>
              <a:t>• Modular design: each station gets independent configuration</a:t>
            </a:r>
          </a:p>
          <a:p>
            <a:pPr>
              <a:spcAft>
                <a:spcPts val="100"/>
              </a:spcAft>
              <a:defRPr sz="1300" b="0"/>
            </a:pPr>
            <a:r>
              <a:t>• Graceful degradation: system falls back to safe mode automatically</a:t>
            </a:r>
          </a:p>
          <a:p>
            <a:pPr>
              <a:spcAft>
                <a:spcPts val="100"/>
              </a:spcAft>
              <a:defRPr sz="1300" b="0"/>
            </a:pPr>
            <a:r>
              <a:t>• Continuous retraining with real data once deployed</a:t>
            </a:r>
          </a:p>
          <a:p>
            <a:pPr>
              <a:spcAft>
                <a:spcPts val="100"/>
              </a:spcAft>
              <a:defRPr sz="1300" b="0"/>
            </a:pPr>
            <a:r>
              <a:t>• Alignment with NCPOR's existing green station initiative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CryoGrid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1"/>
            </a:pPr>
            <a:r>
              <a:t>Quantified Impact (Per Station, Per Year)</a:t>
            </a:r>
          </a:p>
          <a:p>
            <a:pPr>
              <a:spcAft>
                <a:spcPts val="100"/>
              </a:spcAft>
              <a:defRPr sz="600" b="0"/>
            </a:pPr>
          </a:p>
          <a:p>
            <a:pPr>
              <a:spcAft>
                <a:spcPts val="100"/>
              </a:spcAft>
              <a:defRPr sz="1400" b="0"/>
            </a:pPr>
            <a:r>
              <a:t>⛽ Fuel Savings: 35% diesel reduction (~1,40,000 liters/year)</a:t>
            </a:r>
          </a:p>
          <a:p>
            <a:pPr>
              <a:spcAft>
                <a:spcPts val="100"/>
              </a:spcAft>
              <a:defRPr sz="1400" b="0"/>
            </a:pPr>
            <a:r>
              <a:t>💰 Cost Savings: ₹1+ Crore per station annually</a:t>
            </a:r>
          </a:p>
          <a:p>
            <a:pPr>
              <a:spcAft>
                <a:spcPts val="100"/>
              </a:spcAft>
              <a:defRPr sz="1400" b="0"/>
            </a:pPr>
            <a:r>
              <a:t>🌍 CO₂ Reduction: ~500 tonnes/year per station</a:t>
            </a:r>
          </a:p>
          <a:p>
            <a:pPr>
              <a:spcAft>
                <a:spcPts val="100"/>
              </a:spcAft>
              <a:defRPr sz="1400" b="0"/>
            </a:pPr>
            <a:r>
              <a:t>🌱 Renewable Penetration: 17.7% (from near-zero baseline)</a:t>
            </a:r>
          </a:p>
          <a:p>
            <a:pPr>
              <a:spcAft>
                <a:spcPts val="100"/>
              </a:spcAft>
              <a:defRPr sz="1400" b="0"/>
            </a:pPr>
            <a:r>
              <a:t>🔋 100% Critical Load Reliability (heating, comms, life support)</a:t>
            </a:r>
          </a:p>
          <a:p>
            <a:pPr>
              <a:spcAft>
                <a:spcPts val="100"/>
              </a:spcAft>
              <a:defRPr sz="600" b="0"/>
            </a:pPr>
          </a:p>
          <a:p>
            <a:pPr>
              <a:spcAft>
                <a:spcPts val="100"/>
              </a:spcAft>
              <a:defRPr sz="1600" b="1"/>
            </a:pPr>
            <a:r>
              <a:t>Broader Benefits</a:t>
            </a:r>
          </a:p>
          <a:p>
            <a:pPr>
              <a:spcAft>
                <a:spcPts val="100"/>
              </a:spcAft>
              <a:defRPr sz="1300" b="0"/>
            </a:pPr>
            <a:r>
              <a:t>Social: Enables sustainable polar research, supports India's Antarctic program</a:t>
            </a:r>
          </a:p>
          <a:p>
            <a:pPr>
              <a:spcAft>
                <a:spcPts val="100"/>
              </a:spcAft>
              <a:defRPr sz="1300" b="0"/>
            </a:pPr>
            <a:r>
              <a:t>Economic: Massive fuel cost reduction (₹80/liter including icebreaker transport)</a:t>
            </a:r>
          </a:p>
          <a:p>
            <a:pPr>
              <a:spcAft>
                <a:spcPts val="100"/>
              </a:spcAft>
              <a:defRPr sz="1300" b="0"/>
            </a:pPr>
            <a:r>
              <a:t>Environmental: Significant CO₂ reduction in world's most pristine ecosystems</a:t>
            </a:r>
          </a:p>
          <a:p>
            <a:pPr>
              <a:spcAft>
                <a:spcPts val="100"/>
              </a:spcAft>
              <a:defRPr sz="1300" b="0"/>
            </a:pPr>
            <a:r>
              <a:t>Strategic: Supports India's Panchamrit climate commitments</a:t>
            </a:r>
          </a:p>
          <a:p>
            <a:pPr>
              <a:spcAft>
                <a:spcPts val="100"/>
              </a:spcAft>
              <a:defRPr sz="1300" b="0"/>
            </a:pPr>
            <a:r>
              <a:t>Scalable: Architecture applicable to remote/off-grid installations globally</a:t>
            </a:r>
          </a:p>
          <a:p>
            <a:pPr>
              <a:spcAft>
                <a:spcPts val="100"/>
              </a:spcAft>
              <a:defRPr sz="600" b="0"/>
            </a:pPr>
          </a:p>
          <a:p>
            <a:pPr>
              <a:spcAft>
                <a:spcPts val="100"/>
              </a:spcAft>
              <a:defRPr sz="1600" b="1"/>
            </a:pPr>
            <a:r>
              <a:t>Alignment with National Goals</a:t>
            </a:r>
          </a:p>
          <a:p>
            <a:pPr>
              <a:spcAft>
                <a:spcPts val="100"/>
              </a:spcAft>
              <a:defRPr sz="1300" b="0"/>
            </a:pPr>
            <a:r>
              <a:t>• Clean &amp; Green Technology theme ✓</a:t>
            </a:r>
          </a:p>
          <a:p>
            <a:pPr>
              <a:spcAft>
                <a:spcPts val="100"/>
              </a:spcAft>
              <a:defRPr sz="1300" b="0"/>
            </a:pPr>
            <a:r>
              <a:t>• NCPOR's green station initiative (Bharati already solar-equipped) ✓</a:t>
            </a:r>
          </a:p>
          <a:p>
            <a:pPr>
              <a:spcAft>
                <a:spcPts val="100"/>
              </a:spcAft>
              <a:defRPr sz="1300" b="0"/>
            </a:pPr>
            <a:r>
              <a:t>• India's net-zero and sustainable polar research goals ✓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CryoGrid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1"/>
            </a:pPr>
            <a:r>
              <a:t>References &amp;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00"/>
              </a:spcAft>
              <a:defRPr sz="600" b="0"/>
            </a:pPr>
          </a:p>
          <a:p>
            <a:pPr>
              <a:spcAft>
                <a:spcPts val="100"/>
              </a:spcAft>
              <a:defRPr sz="1300" b="0"/>
            </a:pPr>
            <a:r>
              <a:t>1. NCPOR Official: https://ncpor.gov.in</a:t>
            </a:r>
          </a:p>
          <a:p>
            <a:pPr>
              <a:spcAft>
                <a:spcPts val="100"/>
              </a:spcAft>
              <a:defRPr sz="1200" b="0"/>
            </a:pPr>
            <a:r>
              <a:t>   — India's polar research program, station details</a:t>
            </a:r>
          </a:p>
          <a:p>
            <a:pPr>
              <a:spcAft>
                <a:spcPts val="100"/>
              </a:spcAft>
              <a:defRPr sz="400" b="0"/>
            </a:pPr>
          </a:p>
          <a:p>
            <a:pPr>
              <a:spcAft>
                <a:spcPts val="100"/>
              </a:spcAft>
              <a:defRPr sz="1300" b="0"/>
            </a:pPr>
            <a:r>
              <a:t>2. SIH Problem Statement: https://sih.gov.in/sih2026PS</a:t>
            </a:r>
          </a:p>
          <a:p>
            <a:pPr>
              <a:spcAft>
                <a:spcPts val="100"/>
              </a:spcAft>
              <a:defRPr sz="1200" b="0"/>
            </a:pPr>
            <a:r>
              <a:t>   — PS 26061: AI-Driven Smart Energy Management</a:t>
            </a:r>
          </a:p>
          <a:p>
            <a:pPr>
              <a:spcAft>
                <a:spcPts val="100"/>
              </a:spcAft>
              <a:defRPr sz="400" b="0"/>
            </a:pPr>
          </a:p>
          <a:p>
            <a:pPr>
              <a:spcAft>
                <a:spcPts val="100"/>
              </a:spcAft>
              <a:defRPr sz="1300" b="0"/>
            </a:pPr>
            <a:r>
              <a:t>3. Chen &amp; Guestrin (2016): XGBoost — A Scalable Tree Boosting System</a:t>
            </a:r>
          </a:p>
          <a:p>
            <a:pPr>
              <a:spcAft>
                <a:spcPts val="100"/>
              </a:spcAft>
              <a:defRPr sz="1200" b="0"/>
            </a:pPr>
            <a:r>
              <a:t>   — Core algorithm for load forecasting engine</a:t>
            </a:r>
          </a:p>
          <a:p>
            <a:pPr>
              <a:spcAft>
                <a:spcPts val="100"/>
              </a:spcAft>
              <a:defRPr sz="400" b="0"/>
            </a:pPr>
          </a:p>
          <a:p>
            <a:pPr>
              <a:spcAft>
                <a:spcPts val="100"/>
              </a:spcAft>
              <a:defRPr sz="1300" b="0"/>
            </a:pPr>
            <a:r>
              <a:t>4. Indian Antarctic Program: https://moes.gov.in</a:t>
            </a:r>
          </a:p>
          <a:p>
            <a:pPr>
              <a:spcAft>
                <a:spcPts val="100"/>
              </a:spcAft>
              <a:defRPr sz="1200" b="0"/>
            </a:pPr>
            <a:r>
              <a:t>   — Ministry of Earth Sciences, polar operations data</a:t>
            </a:r>
          </a:p>
          <a:p>
            <a:pPr>
              <a:spcAft>
                <a:spcPts val="100"/>
              </a:spcAft>
              <a:defRPr sz="400" b="0"/>
            </a:pPr>
          </a:p>
          <a:p>
            <a:pPr>
              <a:spcAft>
                <a:spcPts val="100"/>
              </a:spcAft>
              <a:defRPr sz="1300" b="0"/>
            </a:pPr>
            <a:r>
              <a:t>5. Bharati Station Green Initiative</a:t>
            </a:r>
          </a:p>
          <a:p>
            <a:pPr>
              <a:spcAft>
                <a:spcPts val="100"/>
              </a:spcAft>
              <a:defRPr sz="1200" b="0"/>
            </a:pPr>
            <a:r>
              <a:t>   — India's first green polar station with solar panels (2012)</a:t>
            </a:r>
          </a:p>
          <a:p>
            <a:pPr>
              <a:spcAft>
                <a:spcPts val="100"/>
              </a:spcAft>
              <a:defRPr sz="600" b="0"/>
            </a:pPr>
          </a:p>
          <a:p>
            <a:pPr>
              <a:spcAft>
                <a:spcPts val="100"/>
              </a:spcAft>
              <a:defRPr sz="1600" b="1"/>
            </a:pPr>
            <a:r>
              <a:t>Research Approach</a:t>
            </a:r>
          </a:p>
          <a:p>
            <a:pPr>
              <a:spcAft>
                <a:spcPts val="100"/>
              </a:spcAft>
              <a:defRPr sz="1300" b="0"/>
            </a:pPr>
            <a:r>
              <a:t>• Synthetic data calibrated to published Antarctic/Arctic conditions</a:t>
            </a:r>
          </a:p>
          <a:p>
            <a:pPr>
              <a:spcAft>
                <a:spcPts val="100"/>
              </a:spcAft>
              <a:defRPr sz="1300" b="0"/>
            </a:pPr>
            <a:r>
              <a:t>• Models validated with temporal cross-validation (no data leakage)</a:t>
            </a:r>
          </a:p>
          <a:p>
            <a:pPr>
              <a:spcAft>
                <a:spcPts val="100"/>
              </a:spcAft>
              <a:defRPr sz="1300" b="0"/>
            </a:pPr>
            <a:r>
              <a:t>• Optimization constraints based on real battery/generator specs</a:t>
            </a:r>
          </a:p>
          <a:p>
            <a:pPr>
              <a:spcAft>
                <a:spcPts val="100"/>
              </a:spcAft>
              <a:defRPr sz="1300" b="0"/>
            </a:pPr>
            <a:r>
              <a:t>• All claims factually accurate — no false data or exaggerated metrics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t>CryoGrid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ctr" rtl="0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ct val="100000"/>
              <a:buFont typeface="Calibri"/>
              <a:buAutoNum type="arabicPeriod"/>
              <a:defRPr sz="2800" b="1"/>
            </a:pPr>
            <a:r>
              <a:t>Thank You!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200"/>
              </a:spcAft>
              <a:defRPr sz="800" b="0"/>
            </a:pPr>
          </a:p>
          <a:p>
            <a:pPr algn="ctr">
              <a:spcAft>
                <a:spcPts val="200"/>
              </a:spcAft>
              <a:defRPr sz="1600" b="0"/>
            </a:pPr>
            <a:r>
              <a:t>Team: CryoGrid</a:t>
            </a:r>
          </a:p>
          <a:p>
            <a:pPr algn="ctr">
              <a:spcAft>
                <a:spcPts val="200"/>
              </a:spcAft>
              <a:defRPr sz="1600" b="0"/>
            </a:pPr>
            <a:r>
              <a:t>Problem Statement: SIH26061</a:t>
            </a:r>
          </a:p>
          <a:p>
            <a:pPr algn="ctr">
              <a:spcAft>
                <a:spcPts val="200"/>
              </a:spcAft>
              <a:defRPr sz="800" b="0"/>
            </a:pPr>
          </a:p>
          <a:p>
            <a:pPr algn="ctr">
              <a:spcAft>
                <a:spcPts val="200"/>
              </a:spcAft>
              <a:defRPr sz="2000" b="0"/>
            </a:pPr>
            <a:r>
              <a:t>PolarGrid AI</a:t>
            </a:r>
          </a:p>
          <a:p>
            <a:pPr algn="ctr">
              <a:spcAft>
                <a:spcPts val="200"/>
              </a:spcAft>
              <a:defRPr sz="1600" b="0"/>
            </a:pPr>
            <a:r>
              <a:t>AI-Driven Smart Energy Management</a:t>
            </a:r>
          </a:p>
          <a:p>
            <a:pPr algn="ctr">
              <a:spcAft>
                <a:spcPts val="200"/>
              </a:spcAft>
              <a:defRPr sz="1600" b="0"/>
            </a:pPr>
            <a:r>
              <a:t>for Polar Research Stations</a:t>
            </a:r>
          </a:p>
          <a:p>
            <a:pPr algn="ctr">
              <a:spcAft>
                <a:spcPts val="200"/>
              </a:spcAft>
              <a:defRPr sz="800" b="0"/>
            </a:pPr>
          </a:p>
          <a:p>
            <a:pPr algn="ctr">
              <a:spcAft>
                <a:spcPts val="200"/>
              </a:spcAft>
              <a:defRPr sz="1400" b="1"/>
            </a:pPr>
            <a:r>
              <a:t>Mentors:</a:t>
            </a:r>
          </a:p>
          <a:p>
            <a:pPr algn="ctr">
              <a:spcAft>
                <a:spcPts val="200"/>
              </a:spcAft>
              <a:defRPr sz="1400" b="0"/>
            </a:pPr>
            <a:r>
              <a:t>Sovers Singh Bisht</a:t>
            </a:r>
          </a:p>
          <a:p>
            <a:pPr algn="ctr">
              <a:spcAft>
                <a:spcPts val="200"/>
              </a:spcAft>
              <a:defRPr sz="1400" b="0"/>
            </a:pPr>
            <a:r>
              <a:t>Chandrapal Singh Arya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346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Mayank Deep Khare</cp:lastModifiedBy>
  <cp:revision>151</cp:revision>
  <dcterms:created xsi:type="dcterms:W3CDTF">2013-12-12T18:46:50Z</dcterms:created>
  <dcterms:modified xsi:type="dcterms:W3CDTF">2026-08-22T06:21:38Z</dcterms:modified>
  <cp:category/>
</cp:coreProperties>
</file>